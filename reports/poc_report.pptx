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eiryo"/>
              </a:defRPr>
            </a:pPr>
            <a:r>
              <a:t>変圧器オイル温度予測 PoC報告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ED6F1"/>
                </a:solidFill>
                <a:latin typeface="Meiryo"/>
              </a:defRPr>
            </a:pPr>
            <a:r>
              <a:t>ETT（Electricity Transformer Temperature）データセットを用いた</a:t>
            </a:r>
            <a:br/>
            <a:r>
              <a:t>時系列予測モデルの技術検証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4114800"/>
            <a:ext cx="3931920" cy="2743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4805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ED6F1"/>
                </a:solidFill>
                <a:latin typeface="Meiryo"/>
              </a:defRPr>
            </a:pPr>
            <a:r>
              <a:t>2026年2月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eiryo"/>
              </a:defRPr>
            </a:pPr>
            <a:r>
              <a:t>エグゼクティブサマリー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64008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Meiryo"/>
              </a:defRPr>
            </a:pPr>
            <a:r>
              <a:t>短期（1-6h）は既存の閾値監視で十分対応可能、中長期（24h-168h）予測にはTransformerモデルが有望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eiryo"/>
              </a:defRPr>
            </a:pPr>
            <a:r>
              <a:t>2/13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99"/>
              </a:spcAft>
              <a:defRPr sz="1500" b="0">
                <a:solidFill>
                  <a:srgbClr val="333333"/>
                </a:solidFill>
                <a:latin typeface="Meiryo"/>
              </a:defRPr>
            </a:pPr>
            <a:r>
              <a:t>① EDA: オイル温度(OT)には明確な日次(24h)・週次(168h)の周期性があり、</a:t>
            </a:r>
            <a:br/>
            <a:r>
              <a:t>   負荷変数HULL・MULLとの強い相関（r&gt;0.9）が特徴量として活用可能</a:t>
            </a:r>
          </a:p>
          <a:p>
            <a:pPr>
              <a:spcAft>
                <a:spcPts val="299"/>
              </a:spcAft>
              <a:defRPr sz="1500" b="0">
                <a:solidFill>
                  <a:srgbClr val="333333"/>
                </a:solidFill>
                <a:latin typeface="Meiryo"/>
              </a:defRPr>
            </a:pPr>
          </a:p>
          <a:p>
            <a:pPr>
              <a:spcAft>
                <a:spcPts val="299"/>
              </a:spcAft>
              <a:defRPr sz="1500" b="0">
                <a:solidFill>
                  <a:srgbClr val="333333"/>
                </a:solidFill>
                <a:latin typeface="Meiryo"/>
              </a:defRPr>
            </a:pPr>
            <a:r>
              <a:t>② モデル比較: 短期(1h)では単純なPersistence（直前値転用）が最強（MAE=0.44℃）。</a:t>
            </a:r>
            <a:br/>
            <a:r>
              <a:t>   中長期(168h)ではInformer（Transformer系）がMAE=3.88℃で最良</a:t>
            </a:r>
          </a:p>
          <a:p>
            <a:pPr>
              <a:spcAft>
                <a:spcPts val="299"/>
              </a:spcAft>
              <a:defRPr sz="1500" b="0">
                <a:solidFill>
                  <a:srgbClr val="333333"/>
                </a:solidFill>
                <a:latin typeface="Meiryo"/>
              </a:defRPr>
            </a:pPr>
          </a:p>
          <a:p>
            <a:pPr>
              <a:spcAft>
                <a:spcPts val="299"/>
              </a:spcAft>
              <a:defRPr sz="1500" b="0">
                <a:solidFill>
                  <a:srgbClr val="333333"/>
                </a:solidFill>
                <a:latin typeface="Meiryo"/>
              </a:defRPr>
            </a:pPr>
            <a:r>
              <a:t>③ 論文対比: 自前Informerの精度は論文値の約1.2倍のMAE。</a:t>
            </a:r>
            <a:br/>
            <a:r>
              <a:t>   ハイパーパラメータチューニングとMultivariate化で改善余地あり</a:t>
            </a:r>
          </a:p>
          <a:p>
            <a:pPr>
              <a:spcAft>
                <a:spcPts val="299"/>
              </a:spcAft>
              <a:defRPr sz="1500" b="0">
                <a:solidFill>
                  <a:srgbClr val="333333"/>
                </a:solidFill>
                <a:latin typeface="Meiryo"/>
              </a:defRPr>
            </a:pPr>
          </a:p>
          <a:p>
            <a:pPr>
              <a:spcAft>
                <a:spcPts val="299"/>
              </a:spcAft>
              <a:defRPr sz="1500" b="0">
                <a:solidFill>
                  <a:srgbClr val="333333"/>
                </a:solidFill>
                <a:latin typeface="Meiryo"/>
              </a:defRPr>
            </a:pPr>
            <a:r>
              <a:t>④ 推奨: 短期監視は従来型で継続しつつ、中長期予防保全に向けた</a:t>
            </a:r>
            <a:br/>
            <a:r>
              <a:t>   DLモデルの本格実装検証（Phase 2）を推奨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eiryo"/>
              </a:defRPr>
            </a:pPr>
            <a:r>
              <a:t>1. データ概要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64008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Meiryo"/>
              </a:defRPr>
            </a:pPr>
            <a:r>
              <a:t>ETTh1は2年間・1時間粒度のセンサデータ（7変数、17,420レコード）で、欠損値なし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eiryo"/>
              </a:defRPr>
            </a:pPr>
            <a:r>
              <a:t>3/13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5486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8404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項目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内容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データセット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ETTh1 (Electricity Transformer Temperature)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期間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2016/7/1 ~ 2018/6/26（約2年間）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粒度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1時間ごと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レコード数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17,420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目的変数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OT（Oil Temperature）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説明変数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HUFL, HULL, MUFL, MULL, LUFL, LULL（負荷変数6種）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欠損値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なし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分割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Train: 12ヶ月(8640) / Val: 4ヶ月(2880) / Test: 8ヶ月(5761)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ot_timeseries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5303520" cy="29419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eiryo"/>
              </a:defRPr>
            </a:pPr>
            <a:r>
              <a:t>2. EDA — 周期性分析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64008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Meiryo"/>
              </a:defRPr>
            </a:pPr>
            <a:r>
              <a:t>OTには明確な日次(24h)・週次(168h)の周期性が存在し、季節トレンドも確認（STL分解で定量化）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eiryo"/>
              </a:defRPr>
            </a:pPr>
            <a:r>
              <a:t>4/13</a:t>
            </a:r>
          </a:p>
        </p:txBody>
      </p:sp>
      <p:pic>
        <p:nvPicPr>
          <p:cNvPr id="7" name="Picture 6" descr="ot_stl_dai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37360"/>
            <a:ext cx="5669280" cy="4836126"/>
          </a:xfrm>
          <a:prstGeom prst="rect">
            <a:avLst/>
          </a:prstGeom>
        </p:spPr>
      </p:pic>
      <p:pic>
        <p:nvPicPr>
          <p:cNvPr id="8" name="Picture 7" descr="ot_monthly_a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737360"/>
            <a:ext cx="5486400" cy="270304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0" y="50292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39"/>
              </a:spcAft>
              <a:defRPr sz="1100" b="0">
                <a:solidFill>
                  <a:srgbClr val="333333"/>
                </a:solidFill>
                <a:latin typeface="Meiryo"/>
              </a:defRPr>
            </a:pPr>
            <a:r>
              <a:t>• STL分解: Trend成分が分散の大部分を占め、季節変動は相対的に小さい</a:t>
            </a:r>
          </a:p>
          <a:p>
            <a:pPr>
              <a:spcAft>
                <a:spcPts val="439"/>
              </a:spcAft>
              <a:defRPr sz="1100" b="0">
                <a:solidFill>
                  <a:srgbClr val="333333"/>
                </a:solidFill>
                <a:latin typeface="Meiryo"/>
              </a:defRPr>
            </a:pPr>
            <a:r>
              <a:t>• 月別: 夏（7-8月）にOTが顕著に上昇 → 季節要因の考慮が重要</a:t>
            </a:r>
          </a:p>
          <a:p>
            <a:pPr>
              <a:spcAft>
                <a:spcPts val="439"/>
              </a:spcAft>
              <a:defRPr sz="1100" b="0">
                <a:solidFill>
                  <a:srgbClr val="333333"/>
                </a:solidFill>
                <a:latin typeface="Meiryo"/>
              </a:defRPr>
            </a:pPr>
            <a:r>
              <a:t>• 時間帯: 日中(10-18時)に高温、夜間に低下 → 24h周期を入力長に反映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eiryo"/>
              </a:defRPr>
            </a:pPr>
            <a:r>
              <a:t>3. EDA — 変数間相関分析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64008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Meiryo"/>
              </a:defRPr>
            </a:pPr>
            <a:r>
              <a:t>HULL・MULLがOTと高い正相関（r&gt;0.9）を持ち、予測の特徴量として有用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eiryo"/>
              </a:defRPr>
            </a:pPr>
            <a:r>
              <a:t>5/13</a:t>
            </a:r>
          </a:p>
        </p:txBody>
      </p:sp>
      <p:pic>
        <p:nvPicPr>
          <p:cNvPr id="7" name="Picture 6" descr="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37360"/>
            <a:ext cx="5029200" cy="4485266"/>
          </a:xfrm>
          <a:prstGeom prst="rect">
            <a:avLst/>
          </a:prstGeom>
        </p:spPr>
      </p:pic>
      <p:pic>
        <p:nvPicPr>
          <p:cNvPr id="8" name="Picture 7" descr="cross_corre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737360"/>
            <a:ext cx="5943600" cy="50701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54864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 b="0">
                <a:solidFill>
                  <a:srgbClr val="333333"/>
                </a:solidFill>
                <a:latin typeface="Meiryo"/>
              </a:defRPr>
            </a:pPr>
            <a:r>
              <a:t>• HULL/MULLはOTと同時刻で最大相関 → ラグなしで有効な特徴量</a:t>
            </a:r>
          </a:p>
          <a:p>
            <a:pPr>
              <a:spcAft>
                <a:spcPts val="330"/>
              </a:spcAft>
              <a:defRPr sz="1100" b="0">
                <a:solidFill>
                  <a:srgbClr val="333333"/>
                </a:solidFill>
                <a:latin typeface="Meiryo"/>
              </a:defRPr>
            </a:pPr>
            <a:r>
              <a:t>• HUFL/MUFLも高相関だが、多重共線性を考慮しHULL/MULLの2変数に絞る設計判断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eiryo"/>
              </a:defRPr>
            </a:pPr>
            <a:r>
              <a:t>4. モデリング方針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64008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Meiryo"/>
              </a:defRPr>
            </a:pPr>
            <a:r>
              <a:t>EDAの知見を活かし、3段階（ベースライン→ML→DL/Transformer）で段階的に検証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eiryo"/>
              </a:defRPr>
            </a:pPr>
            <a:r>
              <a:t>6/13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3474720" cy="3931920"/>
          </a:xfrm>
          <a:prstGeom prst="rect">
            <a:avLst/>
          </a:prstGeom>
          <a:solidFill>
            <a:srgbClr val="F2F2F2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3474720" cy="5486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eiryo"/>
              </a:defRPr>
            </a:pPr>
            <a:r>
              <a:t>Step 1: ベースライン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Persistence（直前値）</a:t>
            </a:r>
          </a:p>
          <a:p>
            <a:pPr>
              <a:spcAft>
                <a:spcPts val="780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Seasonal Naive（24h前の値）</a:t>
            </a:r>
          </a:p>
          <a:p>
            <a:pPr>
              <a:spcAft>
                <a:spcPts val="780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Mean（学習平均値）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2120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6C1"/>
                </a:solidFill>
                <a:latin typeface="Meiryo"/>
              </a:defRPr>
            </a:pPr>
            <a:r>
              <a:t>目的: 予測性能の"下限"を設定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2011680"/>
            <a:ext cx="3474720" cy="3931920"/>
          </a:xfrm>
          <a:prstGeom prst="rect">
            <a:avLst/>
          </a:prstGeom>
          <a:solidFill>
            <a:srgbClr val="F2F2F2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79" y="2011680"/>
            <a:ext cx="3474720" cy="548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39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eiryo"/>
              </a:defRPr>
            </a:pPr>
            <a:r>
              <a:t>Step 2: 機械学習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274320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LightGBM / XGBoost / RF / Ridge</a:t>
            </a:r>
          </a:p>
          <a:p>
            <a:pPr>
              <a:spcAft>
                <a:spcPts val="780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EDA根拠の特徴量設計</a:t>
            </a:r>
          </a:p>
          <a:p>
            <a:pPr>
              <a:spcAft>
                <a:spcPts val="780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Direct + Recursive方式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52120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  <a:latin typeface="Meiryo"/>
              </a:defRPr>
            </a:pPr>
            <a:r>
              <a:t>目的: 特徴量エンジニアリングの効果検証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19" y="2011680"/>
            <a:ext cx="3474720" cy="3931920"/>
          </a:xfrm>
          <a:prstGeom prst="rect">
            <a:avLst/>
          </a:prstGeom>
          <a:solidFill>
            <a:srgbClr val="F2F2F2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19" y="2011680"/>
            <a:ext cx="3474720" cy="548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79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eiryo"/>
              </a:defRPr>
            </a:pPr>
            <a:r>
              <a:t>Step 3: ディープラーニング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9" y="274320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LSTM（系列モデル）</a:t>
            </a:r>
          </a:p>
          <a:p>
            <a:pPr>
              <a:spcAft>
                <a:spcPts val="780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PatchTST（Transformer簡易実装）</a:t>
            </a:r>
          </a:p>
          <a:p>
            <a:pPr>
              <a:spcAft>
                <a:spcPts val="780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Informer（公式実装）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9" y="52120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7E22"/>
                </a:solidFill>
                <a:latin typeface="Meiryo"/>
              </a:defRPr>
            </a:pPr>
            <a:r>
              <a:t>目的: 系列全体を捉える非線形モデル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Meiryo"/>
              </a:defRPr>
            </a:pPr>
            <a:r>
              <a:t>予測ホライズン: 1h / 6h / 24h / 168h（1週間）の4段階で評価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eiryo"/>
              </a:defRPr>
            </a:pPr>
            <a:r>
              <a:t>5. Step 1 — ベースライン結果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64008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Meiryo"/>
              </a:defRPr>
            </a:pPr>
            <a:r>
              <a:t>短期(1-6h)ではPersistenceが最強のベースライン、長期(168h)ではSeasonal Naive(24h)が安定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eiryo"/>
              </a:defRPr>
            </a:pPr>
            <a:r>
              <a:t>7/13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28800"/>
          <a:ext cx="5486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14400"/>
                <a:gridCol w="914400"/>
                <a:gridCol w="914400"/>
                <a:gridCol w="9144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モデル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1h MAE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6h MAE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24h MAE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168h MAE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Persistence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0.44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1.16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1.63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2.76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Seasonal Naive (24h)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1.63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1.63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1.63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1.64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Mean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6.03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6.03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6.03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6.03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1148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60"/>
              </a:spcAft>
              <a:defRPr sz="1200" b="0">
                <a:solidFill>
                  <a:srgbClr val="333333"/>
                </a:solidFill>
                <a:latin typeface="Meiryo"/>
              </a:defRPr>
            </a:pPr>
            <a:r>
              <a:t>• Persistence: 短期では「直前値がそのまま続く」が強力</a:t>
            </a:r>
          </a:p>
          <a:p>
            <a:pPr>
              <a:spcAft>
                <a:spcPts val="360"/>
              </a:spcAft>
              <a:defRPr sz="1200" b="0">
                <a:solidFill>
                  <a:srgbClr val="333333"/>
                </a:solidFill>
                <a:latin typeface="Meiryo"/>
              </a:defRPr>
            </a:pPr>
            <a:r>
              <a:t>  → 機械学習はこれを上回る必要がある</a:t>
            </a:r>
          </a:p>
          <a:p>
            <a:pPr>
              <a:spcAft>
                <a:spcPts val="360"/>
              </a:spcAft>
              <a:defRPr sz="1200" b="0">
                <a:solidFill>
                  <a:srgbClr val="333333"/>
                </a:solidFill>
                <a:latin typeface="Meiryo"/>
              </a:defRPr>
            </a:pPr>
            <a:r>
              <a:t>• Seasonal Naive: ホライズンに依存しない安定性</a:t>
            </a:r>
          </a:p>
          <a:p>
            <a:pPr>
              <a:spcAft>
                <a:spcPts val="360"/>
              </a:spcAft>
              <a:defRPr sz="1200" b="0">
                <a:solidFill>
                  <a:srgbClr val="333333"/>
                </a:solidFill>
                <a:latin typeface="Meiryo"/>
              </a:defRPr>
            </a:pPr>
            <a:r>
              <a:t>  → 24h周期パターンの再現力を反映</a:t>
            </a:r>
          </a:p>
          <a:p>
            <a:pPr>
              <a:spcAft>
                <a:spcPts val="360"/>
              </a:spcAft>
              <a:defRPr sz="1200" b="0">
                <a:solidFill>
                  <a:srgbClr val="333333"/>
                </a:solidFill>
                <a:latin typeface="Meiryo"/>
              </a:defRPr>
            </a:pPr>
            <a:r>
              <a:t>• Mean: 全ホライズンで最悪 → 「予測していない」に等しい</a:t>
            </a:r>
          </a:p>
        </p:txBody>
      </p:sp>
      <p:pic>
        <p:nvPicPr>
          <p:cNvPr id="9" name="Picture 8" descr="baseline_predi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486400" cy="270380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eiryo"/>
              </a:defRPr>
            </a:pPr>
            <a:r>
              <a:t>6. Step 2 — 機械学習モデル結果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64008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Meiryo"/>
              </a:defRPr>
            </a:pPr>
            <a:r>
              <a:t>Direct方式ではPersistenceを上回れず — 長期ホライズンでのラグ特徴量の劣化が主因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eiryo"/>
              </a:defRPr>
            </a:pPr>
            <a:r>
              <a:t>8/13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28800"/>
          <a:ext cx="5486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14400"/>
                <a:gridCol w="914400"/>
                <a:gridCol w="914400"/>
                <a:gridCol w="914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モデル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1h MAE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6h MAE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24h MAE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168h MAE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Persistence（参考）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0.44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1.16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1.63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2.76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Ridge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0.67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1.27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1.93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2.75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LightGBM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0.79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1.56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3.14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6.33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XGBoost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0.82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1.60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3.20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6.45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RandomForest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0.96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1.85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3.53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6.62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75488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60"/>
              </a:spcAft>
              <a:defRPr sz="1200" b="0">
                <a:solidFill>
                  <a:srgbClr val="333333"/>
                </a:solidFill>
                <a:latin typeface="Meiryo"/>
              </a:defRPr>
            </a:pPr>
            <a:r>
              <a:t>• Direct方式: 各ホライズンごとに独立モデルを学習</a:t>
            </a:r>
          </a:p>
          <a:p>
            <a:pPr>
              <a:spcAft>
                <a:spcPts val="360"/>
              </a:spcAft>
              <a:defRPr sz="1200" b="0">
                <a:solidFill>
                  <a:srgbClr val="333333"/>
                </a:solidFill>
                <a:latin typeface="Meiryo"/>
              </a:defRPr>
            </a:pPr>
            <a:r>
              <a:t>• ラグ特徴量(OT_lag1等)が長期で古くなり精度劣化</a:t>
            </a:r>
          </a:p>
          <a:p>
            <a:pPr>
              <a:spcAft>
                <a:spcPts val="360"/>
              </a:spcAft>
              <a:defRPr sz="1200" b="0">
                <a:solidFill>
                  <a:srgbClr val="333333"/>
                </a:solidFill>
                <a:latin typeface="Meiryo"/>
              </a:defRPr>
            </a:pPr>
            <a:r>
              <a:t>• Ridgeが最も安定 — 過学習耐性が高い</a:t>
            </a:r>
          </a:p>
          <a:p>
            <a:pPr>
              <a:spcAft>
                <a:spcPts val="360"/>
              </a:spcAft>
              <a:defRPr sz="1200" b="0">
                <a:solidFill>
                  <a:srgbClr val="333333"/>
                </a:solidFill>
                <a:latin typeface="Meiryo"/>
              </a:defRPr>
            </a:pPr>
            <a:r>
              <a:t>• Recursive方式も試行したが改善は限定的</a:t>
            </a:r>
          </a:p>
        </p:txBody>
      </p:sp>
      <p:pic>
        <p:nvPicPr>
          <p:cNvPr id="9" name="Picture 8" descr="feature_importanc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486400" cy="24017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eiryo"/>
              </a:defRPr>
            </a:pPr>
            <a:r>
              <a:t>7. Step 3 — DL/Transformerモデル結果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64008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Meiryo"/>
              </a:defRPr>
            </a:pPr>
            <a:r>
              <a:t>Informerは中長期(24h/168h)でML全モデルを上回り、時系列構造の捕捉に優位性を確認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eiryo"/>
              </a:defRPr>
            </a:pPr>
            <a:r>
              <a:t>9/13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828800"/>
          <a:ext cx="6400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822960"/>
                <a:gridCol w="822960"/>
                <a:gridCol w="822960"/>
                <a:gridCol w="25603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モデル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1h MAE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24h MAE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168h MAE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備考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Persistence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0.44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1.63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2.76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ベースライン（短期最強）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SeasonalNaive24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1.63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1.63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1.64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ベースライン（長期安定）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Ridge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0.67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1.93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2.75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ML最良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LSTM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0.47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2.72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5.89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短期のみ健闘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PatchTST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2.80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6.14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6.61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簡易実装のため低精度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Informer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2.66*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2.66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3.88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中長期で最良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50292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eiryo"/>
              </a:defRPr>
            </a:pPr>
            <a:r>
              <a:t>* Informerの1h MAEはpred_len=24の第1ステップの値（スライド型予測のため単純比較不可）</a:t>
            </a:r>
          </a:p>
        </p:txBody>
      </p:sp>
      <p:pic>
        <p:nvPicPr>
          <p:cNvPr id="9" name="Picture 8" descr="informer_prediction_24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828800"/>
            <a:ext cx="4846320" cy="238835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eiryo"/>
              </a:defRPr>
            </a:pPr>
            <a:r>
              <a:t>8. 論文値との比較（正規化スケール）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64008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Meiryo"/>
              </a:defRPr>
            </a:pPr>
            <a:r>
              <a:t>自前Informerは論文値の約1.2倍のMAE — チューニング余地はあるが、概ね再現に成功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eiryo"/>
              </a:defRPr>
            </a:pPr>
            <a:r>
              <a:t>10/13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828800"/>
          <a:ext cx="52120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914400"/>
                <a:gridCol w="914400"/>
                <a:gridCol w="914400"/>
                <a:gridCol w="914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モデル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24h MAE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24h MSE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168h MAE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168h MSE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Persistence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0.178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0.054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0.301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0.151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SeasonalNaive24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0.178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0.054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0.179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0.055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Ridge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0.211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0.075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0.300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0.138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LSTM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0.297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0.134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0.642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0.519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Informer（自分）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0.290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0.124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0.423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0.240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Informer（論文）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0.247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0.098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0.346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0.183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21208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60"/>
              </a:spcAft>
              <a:defRPr sz="1200" b="0">
                <a:solidFill>
                  <a:srgbClr val="333333"/>
                </a:solidFill>
                <a:latin typeface="Meiryo"/>
              </a:defRPr>
            </a:pPr>
            <a:r>
              <a:t>• 正規化: MAE_norm = MAE_℃ / std (std=9.18)</a:t>
            </a:r>
          </a:p>
          <a:p>
            <a:pPr>
              <a:spcAft>
                <a:spcPts val="360"/>
              </a:spcAft>
              <a:defRPr sz="1200" b="0">
                <a:solidFill>
                  <a:srgbClr val="333333"/>
                </a:solidFill>
                <a:latin typeface="Meiryo"/>
              </a:defRPr>
            </a:pPr>
            <a:r>
              <a:t>• 論文との乖離: 24h +17%, 168h +22%</a:t>
            </a:r>
          </a:p>
          <a:p>
            <a:pPr>
              <a:spcAft>
                <a:spcPts val="360"/>
              </a:spcAft>
              <a:defRPr sz="1200" b="0">
                <a:solidFill>
                  <a:srgbClr val="333333"/>
                </a:solidFill>
                <a:latin typeface="Meiryo"/>
              </a:defRPr>
            </a:pPr>
            <a:r>
              <a:t>• 主因: Univariate設定・チューニング不足</a:t>
            </a:r>
          </a:p>
        </p:txBody>
      </p:sp>
      <p:pic>
        <p:nvPicPr>
          <p:cNvPr id="9" name="Picture 8" descr="normalized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828800"/>
            <a:ext cx="5029200" cy="248310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eiryo"/>
              </a:defRPr>
            </a:pPr>
            <a:r>
              <a:t>9. 工夫した点・設計上の意思決定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64008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Meiryo"/>
              </a:defRPr>
            </a:pPr>
            <a:r>
              <a:t>EDA根拠に基づく特徴量設計、段階的モデル検証、スケール統一による公正な比較を実施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eiryo"/>
              </a:defRPr>
            </a:pPr>
            <a:r>
              <a:t>11/13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82880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754880"/>
                <a:gridCol w="4846320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工夫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詳細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根拠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特徴量設計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OTラグ(1,2,3,6,12,24,168h)</a:t>
                      </a:r>
                    </a:p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+ 時間sin/cos + 月sin/cos</a:t>
                      </a:r>
                    </a:p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+ HULL,MULL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ACF/PACFで有意なラグを特定</a:t>
                      </a:r>
                    </a:p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24h/168h周期をSTLで確認</a:t>
                      </a:r>
                    </a:p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相関分析でr&gt;0.9の2変数を選定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段階的検証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Baseline → ML → DL の3段階</a:t>
                      </a:r>
                    </a:p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各段階でベースラインと比較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「機械学習が本当に必要か？」を</a:t>
                      </a:r>
                    </a:p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検証するため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スケール統一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Informer出力の正規化状態を検証</a:t>
                      </a:r>
                    </a:p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全モデルを同一スケールで比較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正規化MAEと元スケールMAEの</a:t>
                      </a:r>
                    </a:p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混在を防ぐため（10倍の差に注意）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複数手法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Direct / Recursive / 系列モデル</a:t>
                      </a:r>
                    </a:p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の3アプローチを比較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各手法の長短を明確にし</a:t>
                      </a:r>
                    </a:p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最適な推奨を導出するため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eiryo"/>
              </a:defRPr>
            </a:pPr>
            <a:r>
              <a:t>10. 現時点での限界と今後の改善方針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64008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Meiryo"/>
              </a:defRPr>
            </a:pPr>
            <a:r>
              <a:t>ハイパーパラメータチューニング、Multivariate活用、およびアンサンブル手法で改善余地あり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eiryo"/>
              </a:defRPr>
            </a:pPr>
            <a:r>
              <a:t>12/13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392B"/>
                </a:solidFill>
                <a:latin typeface="Meiryo"/>
              </a:defRPr>
            </a:pPr>
            <a:r>
              <a:t>現時点での限界・課題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9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• MLモデルがPersistenceベースラインを超えられず</a:t>
            </a:r>
          </a:p>
          <a:p>
            <a:pPr>
              <a:spcAft>
                <a:spcPts val="259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  → Direct方式のラグ特徴量劣化が主因</a:t>
            </a:r>
          </a:p>
          <a:p>
            <a:pPr>
              <a:spcAft>
                <a:spcPts val="259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• PatchTSTは全モデル中最低精度</a:t>
            </a:r>
          </a:p>
          <a:p>
            <a:pPr>
              <a:spcAft>
                <a:spcPts val="259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  → 簡易自前実装のため十分な性能が出ない</a:t>
            </a:r>
          </a:p>
          <a:p>
            <a:pPr>
              <a:spcAft>
                <a:spcPts val="259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• Informerは論文値に未到達（+17~22%）</a:t>
            </a:r>
          </a:p>
          <a:p>
            <a:pPr>
              <a:spcAft>
                <a:spcPts val="259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  → Univariate / チューニング不足</a:t>
            </a:r>
          </a:p>
          <a:p>
            <a:pPr>
              <a:spcAft>
                <a:spcPts val="259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• ETTh1のみで検証、他データセット未使用</a:t>
            </a:r>
          </a:p>
          <a:p>
            <a:pPr>
              <a:spcAft>
                <a:spcPts val="259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• ハイパーパラメータは手動設定（未最適化）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8288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7AE60"/>
                </a:solidFill>
                <a:latin typeface="Meiryo"/>
              </a:defRPr>
            </a:pPr>
            <a:r>
              <a:t>今後の改善方針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3774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9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• Multivariate設定（features='M'）でInformerを再学習</a:t>
            </a:r>
          </a:p>
          <a:p>
            <a:pPr>
              <a:spcAft>
                <a:spcPts val="259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  → 全7変数の情報を活用</a:t>
            </a:r>
          </a:p>
          <a:p>
            <a:pPr>
              <a:spcAft>
                <a:spcPts val="259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• Optuna等によるハイパーパラメータ自動最適化</a:t>
            </a:r>
          </a:p>
          <a:p>
            <a:pPr>
              <a:spcAft>
                <a:spcPts val="259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  → seq_len, d_model, n_heads等を探索</a:t>
            </a:r>
          </a:p>
          <a:p>
            <a:pPr>
              <a:spcAft>
                <a:spcPts val="259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• PatchTST: HuggingFace公式実装の活用</a:t>
            </a:r>
          </a:p>
          <a:p>
            <a:pPr>
              <a:spcAft>
                <a:spcPts val="259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  → 自前実装から成熟した実装へ移行</a:t>
            </a:r>
          </a:p>
          <a:p>
            <a:pPr>
              <a:spcAft>
                <a:spcPts val="259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• アンサンブル: Ridge（短期）+ Informer（長期）</a:t>
            </a:r>
          </a:p>
          <a:p>
            <a:pPr>
              <a:spcAft>
                <a:spcPts val="259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  → ホライズン別の最適モデル組合せ</a:t>
            </a:r>
          </a:p>
          <a:p>
            <a:pPr>
              <a:spcAft>
                <a:spcPts val="259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• ETTh2, ETTm1での汎化性検証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eiryo"/>
              </a:defRPr>
            </a:pPr>
            <a:r>
              <a:t>まとめと推奨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3657600" cy="2743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99"/>
              </a:spcAft>
              <a:defRPr sz="1500" b="0">
                <a:solidFill>
                  <a:srgbClr val="FFFFFF"/>
                </a:solidFill>
                <a:latin typeface="Meiryo"/>
              </a:defRPr>
            </a:pPr>
            <a:r>
              <a:t>結論</a:t>
            </a:r>
          </a:p>
          <a:p>
            <a:pPr>
              <a:spcAft>
                <a:spcPts val="299"/>
              </a:spcAft>
              <a:defRPr sz="1500" b="0">
                <a:solidFill>
                  <a:srgbClr val="FFFFFF"/>
                </a:solidFill>
                <a:latin typeface="Meiryo"/>
              </a:defRPr>
            </a:pPr>
          </a:p>
          <a:p>
            <a:pPr>
              <a:spcAft>
                <a:spcPts val="299"/>
              </a:spcAft>
              <a:defRPr sz="1500" b="0">
                <a:solidFill>
                  <a:srgbClr val="FFFFFF"/>
                </a:solidFill>
                <a:latin typeface="Meiryo"/>
              </a:defRPr>
            </a:pPr>
            <a:r>
              <a:t>  1. 短期予測（1-6h）: 現行の閾値監視方式で十分な精度が得られる</a:t>
            </a:r>
          </a:p>
          <a:p>
            <a:pPr>
              <a:spcAft>
                <a:spcPts val="299"/>
              </a:spcAft>
              <a:defRPr sz="1500" b="0">
                <a:solidFill>
                  <a:srgbClr val="FFFFFF"/>
                </a:solidFill>
                <a:latin typeface="Meiryo"/>
              </a:defRPr>
            </a:pPr>
            <a:r>
              <a:t>     → Persistenceが MAE=0.44℃ で最良。追加投資の優先度は低い</a:t>
            </a:r>
          </a:p>
          <a:p>
            <a:pPr>
              <a:spcAft>
                <a:spcPts val="299"/>
              </a:spcAft>
              <a:defRPr sz="1500" b="0">
                <a:solidFill>
                  <a:srgbClr val="FFFFFF"/>
                </a:solidFill>
                <a:latin typeface="Meiryo"/>
              </a:defRPr>
            </a:pPr>
          </a:p>
          <a:p>
            <a:pPr>
              <a:spcAft>
                <a:spcPts val="299"/>
              </a:spcAft>
              <a:defRPr sz="1500" b="0">
                <a:solidFill>
                  <a:srgbClr val="FFFFFF"/>
                </a:solidFill>
                <a:latin typeface="Meiryo"/>
              </a:defRPr>
            </a:pPr>
            <a:r>
              <a:t>  2. 中長期予測（24h-168h）: DLモデル（特にInformer）が有望</a:t>
            </a:r>
          </a:p>
          <a:p>
            <a:pPr>
              <a:spcAft>
                <a:spcPts val="299"/>
              </a:spcAft>
              <a:defRPr sz="1500" b="0">
                <a:solidFill>
                  <a:srgbClr val="FFFFFF"/>
                </a:solidFill>
                <a:latin typeface="Meiryo"/>
              </a:defRPr>
            </a:pPr>
            <a:r>
              <a:t>     → 168hでMAE=3.88℃、SeasonalNaiveに次ぐ精度を実現</a:t>
            </a:r>
          </a:p>
          <a:p>
            <a:pPr>
              <a:spcAft>
                <a:spcPts val="299"/>
              </a:spcAft>
              <a:defRPr sz="1500" b="0">
                <a:solidFill>
                  <a:srgbClr val="FFFFFF"/>
                </a:solidFill>
                <a:latin typeface="Meiryo"/>
              </a:defRPr>
            </a:pPr>
          </a:p>
          <a:p>
            <a:pPr>
              <a:spcAft>
                <a:spcPts val="299"/>
              </a:spcAft>
              <a:defRPr sz="1500" b="0">
                <a:solidFill>
                  <a:srgbClr val="FFFFFF"/>
                </a:solidFill>
                <a:latin typeface="Meiryo"/>
              </a:defRPr>
            </a:pPr>
            <a:r>
              <a:t>  3. 予防保全への活用:  24h先の温度予測で ±2.7℃ の精度が見込める</a:t>
            </a:r>
          </a:p>
          <a:p>
            <a:pPr>
              <a:spcAft>
                <a:spcPts val="299"/>
              </a:spcAft>
              <a:defRPr sz="1500" b="0">
                <a:solidFill>
                  <a:srgbClr val="FFFFFF"/>
                </a:solidFill>
                <a:latin typeface="Meiryo"/>
              </a:defRPr>
            </a:pPr>
            <a:r>
              <a:t>     → 異常温度上昇の早期警告に活用可能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6C1"/>
                </a:solidFill>
                <a:latin typeface="Meiryo"/>
              </a:defRPr>
            </a:pPr>
            <a:r>
              <a:t>Next Steps（推奨）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93776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 b="0">
                <a:solidFill>
                  <a:srgbClr val="AED6F1"/>
                </a:solidFill>
                <a:latin typeface="Meiryo"/>
              </a:defRPr>
            </a:pPr>
            <a:r>
              <a:t>  Phase 2: Multivariate Informerの本格チューニング + 実運用データでの検証</a:t>
            </a:r>
          </a:p>
          <a:p>
            <a:pPr>
              <a:spcAft>
                <a:spcPts val="750"/>
              </a:spcAft>
              <a:defRPr sz="1500" b="0">
                <a:solidFill>
                  <a:srgbClr val="AED6F1"/>
                </a:solidFill>
                <a:latin typeface="Meiryo"/>
              </a:defRPr>
            </a:pPr>
            <a:r>
              <a:t>  Phase 3: リアルタイム推論パイプラインの構築 + 閾値アラートシステムとの統合</a:t>
            </a:r>
          </a:p>
          <a:p>
            <a:pPr>
              <a:spcAft>
                <a:spcPts val="750"/>
              </a:spcAft>
              <a:defRPr sz="1500" b="0">
                <a:solidFill>
                  <a:srgbClr val="AED6F1"/>
                </a:solidFill>
                <a:latin typeface="Meiryo"/>
              </a:defRPr>
            </a:pPr>
            <a:r>
              <a:t>  Phase 4: 予防保全判断ダッシュボードの開発 + 現場運用フローへの組み込み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eiryo"/>
              </a:defRPr>
            </a:pPr>
            <a:r>
              <a:t>13/13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